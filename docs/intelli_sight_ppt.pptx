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8"/>
  </p:notesMasterIdLst>
  <p:sldIdLst>
    <p:sldId id="374" r:id="rId2"/>
    <p:sldId id="375" r:id="rId3"/>
    <p:sldId id="257" r:id="rId4"/>
    <p:sldId id="376" r:id="rId5"/>
    <p:sldId id="377" r:id="rId6"/>
    <p:sldId id="385" r:id="rId7"/>
    <p:sldId id="386" r:id="rId8"/>
    <p:sldId id="387" r:id="rId9"/>
    <p:sldId id="378" r:id="rId10"/>
    <p:sldId id="384" r:id="rId11"/>
    <p:sldId id="379" r:id="rId12"/>
    <p:sldId id="380" r:id="rId13"/>
    <p:sldId id="382" r:id="rId14"/>
    <p:sldId id="383" r:id="rId15"/>
    <p:sldId id="389" r:id="rId16"/>
    <p:sldId id="39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59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587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13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599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50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44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3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1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23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44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95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8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51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756142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  <p:pic>
        <p:nvPicPr>
          <p:cNvPr id="5" name="Picture 4" descr="A cartoon of a child and a brain&#10;&#10;AI-generated content may be incorrect.">
            <a:extLst>
              <a:ext uri="{FF2B5EF4-FFF2-40B4-BE49-F238E27FC236}">
                <a16:creationId xmlns:a16="http://schemas.microsoft.com/office/drawing/2014/main" id="{3C2676F2-14AE-7E30-C46D-34670FE60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995" y="23373"/>
            <a:ext cx="6711341" cy="68112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50ACDC-2EC4-4257-9B51-3093B4250D91}"/>
              </a:ext>
            </a:extLst>
          </p:cNvPr>
          <p:cNvSpPr txBox="1"/>
          <p:nvPr/>
        </p:nvSpPr>
        <p:spPr>
          <a:xfrm>
            <a:off x="223023" y="2096429"/>
            <a:ext cx="577261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COLLAGE NAME:- RVCE</a:t>
            </a:r>
          </a:p>
          <a:p>
            <a:endParaRPr lang="en-IN" sz="2000" b="1" dirty="0"/>
          </a:p>
          <a:p>
            <a:r>
              <a:rPr lang="en-IN" sz="2000" b="1" dirty="0"/>
              <a:t>TAGLINE:-UNDERSTANDING EVERY CHILD BEYOND IQ SCORE</a:t>
            </a:r>
          </a:p>
          <a:p>
            <a:endParaRPr lang="en-IN" sz="2000" b="1" dirty="0"/>
          </a:p>
          <a:p>
            <a:r>
              <a:rPr lang="en-IN" sz="2000" b="1" dirty="0"/>
              <a:t>TEAM MEMBER:-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 ROHAN SAMUEL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SYED MOHAMMED ZUBER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SHARON SAMUEL HALLI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 ANUSHKA REDDY</a:t>
            </a:r>
            <a:br>
              <a:rPr lang="en-IN" sz="2400" dirty="0"/>
            </a:br>
            <a:endParaRPr lang="en-IN" sz="2400" b="1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31531" y="1774841"/>
            <a:ext cx="512062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Why We Selected This Theme</a:t>
            </a:r>
            <a:r>
              <a:rPr lang="en-US" sz="1600" dirty="0"/>
              <a:t>: We selected the </a:t>
            </a:r>
            <a:r>
              <a:rPr lang="en-US" sz="1600" dirty="0" err="1"/>
              <a:t>GenAI</a:t>
            </a:r>
            <a:r>
              <a:rPr lang="en-US" sz="1600" dirty="0"/>
              <a:t> + Productivity theme because current child cognitive assessments are outdated, stressful, and heavily dependent on static IQ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Problem We Are Solving</a:t>
            </a:r>
            <a:r>
              <a:rPr lang="en-IN" sz="1600" b="1" u="sng" dirty="0"/>
              <a:t>:</a:t>
            </a:r>
          </a:p>
          <a:p>
            <a:r>
              <a:rPr lang="en-IN" sz="1600" b="1" dirty="0"/>
              <a:t>         </a:t>
            </a:r>
            <a:r>
              <a:rPr lang="en-US" sz="1600" dirty="0"/>
              <a:t>Traditional assessments: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 only final answers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Ignore behavioral patterns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pressure and anxiety in children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Fail to adapt to different learning styles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A child may think creatively or logically but still perform poorly in rigid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34617-F044-3DFF-2F21-0462346849EF}"/>
              </a:ext>
            </a:extLst>
          </p:cNvPr>
          <p:cNvSpPr txBox="1"/>
          <p:nvPr/>
        </p:nvSpPr>
        <p:spPr>
          <a:xfrm>
            <a:off x="6096000" y="1774841"/>
            <a:ext cx="512062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u="sng" dirty="0"/>
              <a:t>Who Faces This Problem</a:t>
            </a:r>
            <a:r>
              <a:rPr lang="en-US" sz="1600" dirty="0"/>
              <a:t>: </a:t>
            </a:r>
          </a:p>
          <a:p>
            <a:r>
              <a:rPr lang="en-US" sz="1600" b="1" dirty="0"/>
              <a:t>        Personas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Parents seeking accurate developmental insights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Teachers monitoring learning 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Children who struggle with traditional testing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Why It Is Important</a:t>
            </a:r>
            <a:r>
              <a:rPr lang="en-IN" sz="1600" b="1" u="sng" dirty="0"/>
              <a:t>:</a:t>
            </a:r>
          </a:p>
          <a:p>
            <a:r>
              <a:rPr lang="en-IN" sz="1600" b="1" dirty="0"/>
              <a:t>         </a:t>
            </a:r>
            <a:r>
              <a:rPr lang="en-US" sz="1600" dirty="0"/>
              <a:t>Early misjudgment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Affect confidence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Lead to incorrect labeling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Delay personalized learning support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currently no engaging, AI-driven cognitive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/>
            <a:r>
              <a:rPr lang="en-US" sz="1600" dirty="0"/>
              <a:t>assessment platform focused on real interaction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u="sng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2210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Existing Solutions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IQ tests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School assessments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Static educational apps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Basic puzzle games</a:t>
            </a:r>
          </a:p>
          <a:p>
            <a:pPr lvl="1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What’s Missing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Current systems: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Do not analyze behavioral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Are not adaptive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generic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Ignore reaction time, memory patterns, and attention behavior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234B51-6A42-A375-88F5-ED542E5B56AD}"/>
              </a:ext>
            </a:extLst>
          </p:cNvPr>
          <p:cNvSpPr txBox="1"/>
          <p:nvPr/>
        </p:nvSpPr>
        <p:spPr>
          <a:xfrm>
            <a:off x="6230473" y="2364263"/>
            <a:ext cx="52174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Opportunity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Using AI and gameplay interaction data, we can create: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Continuous cognitive evaluation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Personalized cognitive insights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Stress-free assessment experiences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This creates a scalable future for AI-assisted child development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79038" y="2585795"/>
            <a:ext cx="356256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/>
              <a:t>Core Idea: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We measure: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Memory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Attention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Processing speed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Comprehension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by observing: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taken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Decision patterns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Gameplay behavior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09599" y="1402327"/>
            <a:ext cx="10972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We Built:</a:t>
            </a:r>
          </a:p>
          <a:p>
            <a:pPr lvl="1"/>
            <a:r>
              <a:rPr lang="en-US" dirty="0" err="1"/>
              <a:t>IntelliSight</a:t>
            </a:r>
            <a:r>
              <a:rPr lang="en-US" dirty="0"/>
              <a:t> is a mobile-based cognitive assessment platform that evaluates children through interactive games instead of traditional tests.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FC820-9326-DFE6-F7FA-491873011793}"/>
              </a:ext>
            </a:extLst>
          </p:cNvPr>
          <p:cNvSpPr txBox="1"/>
          <p:nvPr/>
        </p:nvSpPr>
        <p:spPr>
          <a:xfrm>
            <a:off x="5538395" y="2681473"/>
            <a:ext cx="55500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Gamified cognitive assessment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AI-generated cognitive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Child-specific progress tracking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Real-time scoring engine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Personalized cognitive profiles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Parent-friendly 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AI Integration</a:t>
            </a:r>
          </a:p>
          <a:p>
            <a:pPr lvl="1"/>
            <a:r>
              <a:rPr lang="en-US" dirty="0" err="1"/>
              <a:t>OpenClaw</a:t>
            </a:r>
            <a:r>
              <a:rPr lang="en-US" dirty="0"/>
              <a:t> AI analyzes gameplay sessions and generates cognitive insights and recommendations.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2249368"/>
            <a:ext cx="566266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Features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Gamified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AI-Based Reports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Progress Tracking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69549-1FDB-5C4F-C7AC-C4E9B0E45F9B}"/>
              </a:ext>
            </a:extLst>
          </p:cNvPr>
          <p:cNvSpPr txBox="1"/>
          <p:nvPr/>
        </p:nvSpPr>
        <p:spPr>
          <a:xfrm>
            <a:off x="520391" y="560832"/>
            <a:ext cx="9181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Demo/Product Walkthrough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0D1CE-D65F-B042-44E7-29C45A66B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369" y="685800"/>
            <a:ext cx="4480560" cy="7315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Create Child Profile</a:t>
            </a:r>
          </a:p>
        </p:txBody>
      </p:sp>
      <p:pic>
        <p:nvPicPr>
          <p:cNvPr id="8" name="Content Placeholder 7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F328C740-F663-159F-7C76-FA1A3099F4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22" y="1713655"/>
            <a:ext cx="2319453" cy="4458545"/>
          </a:xfrm>
        </p:spPr>
      </p:pic>
      <p:pic>
        <p:nvPicPr>
          <p:cNvPr id="10" name="Content Placeholder 9" descr="A screenshot of a phone&#10;&#10;AI-generated content may be incorrect.">
            <a:extLst>
              <a:ext uri="{FF2B5EF4-FFF2-40B4-BE49-F238E27FC236}">
                <a16:creationId xmlns:a16="http://schemas.microsoft.com/office/drawing/2014/main" id="{F214EE7E-A04C-9FE8-F308-2FA922B3286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010" y="1713655"/>
            <a:ext cx="2232184" cy="4458545"/>
          </a:xfr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8E57263C-ABB1-6809-EAA7-8339E0BB3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577" y="1616927"/>
            <a:ext cx="2319454" cy="46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2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80ED7-A041-E2F6-23EB-61F852E29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277" y="536231"/>
            <a:ext cx="4480560" cy="7315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Select Cognitive Game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7A62A-02D0-D401-F615-E5344A942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34469" y="536231"/>
            <a:ext cx="4480560" cy="7315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 Child Plays Interactive Activity</a:t>
            </a:r>
          </a:p>
        </p:txBody>
      </p:sp>
      <p:pic>
        <p:nvPicPr>
          <p:cNvPr id="13" name="Content Placeholder 1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17015C83-9200-53E0-8BD1-71E84797C7D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333" y="1535108"/>
            <a:ext cx="2343911" cy="4577576"/>
          </a:xfrm>
        </p:spPr>
      </p:pic>
      <p:pic>
        <p:nvPicPr>
          <p:cNvPr id="11" name="Content Placeholder 10" descr="A screenshot of a game&#10;&#10;AI-generated content may be incorrect.">
            <a:extLst>
              <a:ext uri="{FF2B5EF4-FFF2-40B4-BE49-F238E27FC236}">
                <a16:creationId xmlns:a16="http://schemas.microsoft.com/office/drawing/2014/main" id="{388BF442-C3DC-3E58-35FA-F3D578B743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155" y="1594624"/>
            <a:ext cx="2149891" cy="4458545"/>
          </a:xfrm>
        </p:spPr>
      </p:pic>
      <p:pic>
        <p:nvPicPr>
          <p:cNvPr id="17" name="Picture 16" descr="A screenshot of a game&#10;&#10;AI-generated content may be incorrect.">
            <a:extLst>
              <a:ext uri="{FF2B5EF4-FFF2-40B4-BE49-F238E27FC236}">
                <a16:creationId xmlns:a16="http://schemas.microsoft.com/office/drawing/2014/main" id="{636F142F-F9B4-4BCB-576A-F498938A73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531" y="1535107"/>
            <a:ext cx="2245114" cy="451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1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B3ED0-A19B-6277-9E4F-D9C4F3854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01" y="685800"/>
            <a:ext cx="4480560" cy="7315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 AI Generates Cognitive Report</a:t>
            </a:r>
          </a:p>
        </p:txBody>
      </p:sp>
      <p:pic>
        <p:nvPicPr>
          <p:cNvPr id="8" name="Content Placeholder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42D6ED40-73B4-EC9D-78C8-8AB0C13A09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15" y="1713654"/>
            <a:ext cx="2141034" cy="4263399"/>
          </a:xfrm>
        </p:spPr>
      </p:pic>
      <p:pic>
        <p:nvPicPr>
          <p:cNvPr id="12" name="Content Placeholder 1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3A4A144-4E8F-CAF7-0F7C-16497B965F7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068" y="1713654"/>
            <a:ext cx="2141034" cy="4263399"/>
          </a:xfrm>
        </p:spPr>
      </p:pic>
    </p:spTree>
    <p:extLst>
      <p:ext uri="{BB962C8B-B14F-4D97-AF65-F5344CB8AC3E}">
        <p14:creationId xmlns:p14="http://schemas.microsoft.com/office/powerpoint/2010/main" val="344105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9525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135456" y="1924295"/>
            <a:ext cx="557054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PostgreSQL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AI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OpenClaw AI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3FCCA-F70A-8ECC-39B2-9E3A397B546A}"/>
              </a:ext>
            </a:extLst>
          </p:cNvPr>
          <p:cNvSpPr txBox="1"/>
          <p:nvPr/>
        </p:nvSpPr>
        <p:spPr>
          <a:xfrm>
            <a:off x="892896" y="1835345"/>
            <a:ext cx="557054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Tech Stack</a:t>
            </a:r>
          </a:p>
          <a:p>
            <a:endParaRPr lang="en-IN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Frontend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React Native (Expo)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Expo Router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Axios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AsyncStorage</a:t>
            </a:r>
            <a:endParaRPr lang="en-IN" dirty="0"/>
          </a:p>
          <a:p>
            <a:pPr lvl="1"/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Backend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SQLAlchemy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9525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135456" y="1924295"/>
            <a:ext cx="557054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PostgreSQL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AI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OpenClaw AI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3FCCA-F70A-8ECC-39B2-9E3A397B546A}"/>
              </a:ext>
            </a:extLst>
          </p:cNvPr>
          <p:cNvSpPr txBox="1"/>
          <p:nvPr/>
        </p:nvSpPr>
        <p:spPr>
          <a:xfrm>
            <a:off x="892896" y="1835345"/>
            <a:ext cx="557054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System Architecture</a:t>
            </a:r>
          </a:p>
          <a:p>
            <a:endParaRPr lang="en-IN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Frontend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React Native (Expo)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Expo Router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Axios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AsyncStorage</a:t>
            </a:r>
            <a:endParaRPr lang="en-IN" dirty="0"/>
          </a:p>
          <a:p>
            <a:pPr lvl="1"/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Backend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SQLAlchemy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959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2189895"/>
            <a:ext cx="55705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Real-Life Use Cases 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Parents can track child development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Schools can identify learning strengths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reduce stress from traditional IQ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continuous cognitive improvement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828264" y="2189895"/>
            <a:ext cx="44493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Impact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learning experience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Early identification of cognitive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Engaging and stress-free assessment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for schools and learning centers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7" y="1682945"/>
            <a:ext cx="511166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What Makes </a:t>
            </a:r>
            <a:r>
              <a:rPr lang="en-IN" sz="2000" b="1" u="sng" dirty="0" err="1"/>
              <a:t>IntelliSight</a:t>
            </a:r>
            <a:r>
              <a:rPr lang="en-IN" sz="2000" b="1" u="sng" dirty="0"/>
              <a:t> Different?</a:t>
            </a:r>
          </a:p>
          <a:p>
            <a:endParaRPr lang="en-IN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Gamified assessments instead of stressful IQ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AI-generated cognitive insights based on real gameplay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Continuous skill tracking, not one-time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Parent-friendly and child-friendly experience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095999" y="1682945"/>
            <a:ext cx="53555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Our Strong MOAT</a:t>
            </a:r>
          </a:p>
          <a:p>
            <a:endParaRPr lang="en-US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Unique combination of gaming + AI-based cognitive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reports generated from behavioral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Adaptive and scalable for schools and home learning 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5" y="1682945"/>
            <a:ext cx="68757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GitHub 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https://github.com/rohansamuel123/intelliSight.git</a:t>
            </a:r>
          </a:p>
          <a:p>
            <a:endParaRPr lang="en-IN" b="1" u="sng" dirty="0"/>
          </a:p>
          <a:p>
            <a:br>
              <a:rPr lang="en-IN" b="1" dirty="0"/>
            </a:br>
            <a:r>
              <a:rPr lang="en-IN" b="1" dirty="0"/>
              <a:t>Demo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https://drive.google.com/drive/folders/1LlIMcvet9LefkE7VD86S1tq6YyWxueaS?usp=sharing</a:t>
            </a:r>
            <a:br>
              <a:rPr lang="en-IN" b="1" u="sng" dirty="0"/>
            </a:b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&lt;Brownie Slide&gt;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56840" y="1682945"/>
            <a:ext cx="106159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Future Scope:-</a:t>
            </a:r>
          </a:p>
          <a:p>
            <a:endParaRPr lang="en-IN" sz="2000" b="1" u="sng" dirty="0"/>
          </a:p>
          <a:p>
            <a:r>
              <a:rPr lang="en-IN" sz="2000" b="1" dirty="0"/>
              <a:t>Upcoming Enhancements</a:t>
            </a:r>
          </a:p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AI-based adaptive game difficulty :-</a:t>
            </a:r>
          </a:p>
          <a:p>
            <a:r>
              <a:rPr lang="en-IN" dirty="0"/>
              <a:t>       </a:t>
            </a:r>
            <a:r>
              <a:rPr lang="en-US" dirty="0"/>
              <a:t>Games will automatically adjust difficulty based on the child’s performance and learning pace</a:t>
            </a:r>
          </a:p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Personalized learning recommendations :-</a:t>
            </a:r>
          </a:p>
          <a:p>
            <a:r>
              <a:rPr lang="en-IN" dirty="0"/>
              <a:t>        </a:t>
            </a:r>
            <a:r>
              <a:rPr lang="en-US" dirty="0"/>
              <a:t>AI will recommend activities and exercises tailored to each child’s cognitive strengths and     weaknesses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 deployment and real-time sync :-</a:t>
            </a:r>
          </a:p>
          <a:p>
            <a:r>
              <a:rPr lang="en-IN" dirty="0"/>
              <a:t>         </a:t>
            </a:r>
            <a:r>
              <a:rPr lang="en-US" dirty="0"/>
              <a:t>Secure cloud storage and real-time synchronization across devices for continuous tracking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6AE7-A5A4-8B72-54F9-4CB2A2D3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8" y="365760"/>
            <a:ext cx="7566396" cy="1170209"/>
          </a:xfrm>
        </p:spPr>
        <p:txBody>
          <a:bodyPr>
            <a:normAutofit/>
          </a:bodyPr>
          <a:lstStyle/>
          <a:p>
            <a:r>
              <a:rPr lang="en-IN" sz="3200" b="1" dirty="0"/>
              <a:t>Real-World Applications &amp;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F550CB-5845-EEE5-72B5-840D6C34B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4216" y="2031188"/>
            <a:ext cx="6621685" cy="4270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Where </a:t>
            </a:r>
            <a:r>
              <a:rPr lang="en-US" sz="2400" b="1" dirty="0" err="1">
                <a:solidFill>
                  <a:schemeClr val="tx1"/>
                </a:solidFill>
              </a:rPr>
              <a:t>IntelliSight</a:t>
            </a:r>
            <a:r>
              <a:rPr lang="en-US" sz="2400" b="1" dirty="0">
                <a:solidFill>
                  <a:schemeClr val="tx1"/>
                </a:solidFill>
              </a:rPr>
              <a:t> Can Be Implemented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Schools &amp; Educational Institutions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Early cognitive assessment during admissions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Identifying learning strengths and support needs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Monitoring student cognitive development over time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Homes &amp; Parent Monitoring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Helps parents understand a child’s learning behavior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Encourages stress-free cognitive development through games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Tracks progress continuously instead of one-time testing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Special Education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Provides additional behavioral insights for children with different learning styles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Encourages inclusive and adaptive learning approaches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91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6AE7-A5A4-8B72-54F9-4CB2A2D3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8" y="365760"/>
            <a:ext cx="7566396" cy="1170209"/>
          </a:xfrm>
        </p:spPr>
        <p:txBody>
          <a:bodyPr>
            <a:normAutofit/>
          </a:bodyPr>
          <a:lstStyle/>
          <a:p>
            <a:r>
              <a:rPr lang="en-IN" sz="3600" b="1" dirty="0"/>
              <a:t>Why </a:t>
            </a:r>
            <a:r>
              <a:rPr lang="en-IN" sz="3600" b="1" dirty="0" err="1"/>
              <a:t>IntelliSight</a:t>
            </a:r>
            <a:r>
              <a:rPr lang="en-IN" sz="3600" b="1" dirty="0"/>
              <a:t>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F550CB-5845-EEE5-72B5-840D6C34B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0428" y="2148213"/>
            <a:ext cx="9314513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Moves beyond traditional IQ-based evaluation systems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Focuses on behavioral understanding instead of static scores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Reduces stress and pressure during cognitive assessment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Encourages continuous learning and skill improvement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parents and educators better understand learning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personalized and adaptive learning approaches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Makes cognitive assessment engaging, interactive, and child-friendly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Creates a scalable platform for schools, homes, and learning centers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/>
              <a:t>“Every child learns differently — </a:t>
            </a:r>
            <a:r>
              <a:rPr lang="en-US" sz="1400" dirty="0" err="1"/>
              <a:t>IntelliSight</a:t>
            </a:r>
            <a:r>
              <a:rPr lang="en-US" sz="1400" dirty="0"/>
              <a:t> helps understand those differences through interaction, behavior, and continuous growth.”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287367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276</TotalTime>
  <Words>800</Words>
  <Application>Microsoft Office PowerPoint</Application>
  <PresentationFormat>Widescreen</PresentationFormat>
  <Paragraphs>232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Berlin Sans FB Demi</vt:lpstr>
      <vt:lpstr>Calibri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Real-World Applications &amp; Impact</vt:lpstr>
      <vt:lpstr>Why IntelliSight Matters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rohan samuel</cp:lastModifiedBy>
  <cp:revision>7</cp:revision>
  <dcterms:created xsi:type="dcterms:W3CDTF">2026-04-27T09:11:02Z</dcterms:created>
  <dcterms:modified xsi:type="dcterms:W3CDTF">2026-05-08T17:30:44Z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